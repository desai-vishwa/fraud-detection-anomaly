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ibre Franklin"/>
      <p:regular r:id="rId20"/>
      <p:bold r:id="rId21"/>
      <p:italic r:id="rId22"/>
      <p:boldItalic r:id="rId23"/>
    </p:embeddedFont>
    <p:embeddedFont>
      <p:font typeface="Franklin Gothic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6C5044-A8D3-48BC-94D7-9ED05DA03D18}">
  <a:tblStyle styleId="{1C6C5044-A8D3-48BC-94D7-9ED05DA03D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regular.fntdata"/><Relationship Id="rId11" Type="http://schemas.openxmlformats.org/officeDocument/2006/relationships/slide" Target="slides/slide6.xml"/><Relationship Id="rId22" Type="http://schemas.openxmlformats.org/officeDocument/2006/relationships/font" Target="fonts/LibreFranklin-italic.fntdata"/><Relationship Id="rId10" Type="http://schemas.openxmlformats.org/officeDocument/2006/relationships/slide" Target="slides/slide5.xml"/><Relationship Id="rId21" Type="http://schemas.openxmlformats.org/officeDocument/2006/relationships/font" Target="fonts/LibreFranklin-bold.fntdata"/><Relationship Id="rId13" Type="http://schemas.openxmlformats.org/officeDocument/2006/relationships/slide" Target="slides/slide8.xml"/><Relationship Id="rId24" Type="http://schemas.openxmlformats.org/officeDocument/2006/relationships/font" Target="fonts/FranklinGothic-bold.fntdata"/><Relationship Id="rId12" Type="http://schemas.openxmlformats.org/officeDocument/2006/relationships/slide" Target="slides/slide7.xml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4790698d4f7abf65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4790698d4f7abf65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4790698d4f7abf65_5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h4790698d4f7abf65_5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575894" y="729658"/>
            <a:ext cx="11029616" cy="5922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b="0" sz="36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581193" y="729658"/>
            <a:ext cx="11029616" cy="4928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581193" y="1391479"/>
            <a:ext cx="5194767" cy="4469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416039" y="1391479"/>
            <a:ext cx="5194769" cy="4469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b="0" sz="2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b="0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3809574" y="-1813184"/>
            <a:ext cx="4572852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7914" lvl="0" marL="45720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indent="-310388" lvl="1" marL="914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indent="-304546" lvl="2" marL="1371600" algn="l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indent="-292862" lvl="3" marL="18288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indent="-292862" lvl="4" marL="22860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1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7914" lvl="0" marL="457200" marR="0" rtl="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0388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546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92862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2862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&#10;&#10;Description automatically generated"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85003" y="6437910"/>
            <a:ext cx="1125805" cy="3651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Desai-Vishwa/fraud-detection-anomal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FRAUD DETECTION &amp; ANOMALY ANALYSIS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834640" y="3886200"/>
            <a:ext cx="7315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Vishwa Desai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  Gujarat University (Prin. M.C. Shah Commerce College)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  Commerce / Accounting &amp; Finance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  AICTE ID: </a:t>
            </a:r>
            <a:r>
              <a:rPr lang="en-US">
                <a:solidFill>
                  <a:srgbClr val="FFFFFF"/>
                </a:solidFill>
              </a:rPr>
              <a:t>STU6a69dd44436a11785322820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148840" y="27889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Machine-learning based identification of suspicious transaction patterns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849573" y="5584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9570" y="2057400"/>
            <a:ext cx="8046600" cy="25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Problem Statement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Proposed System / Solution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System Development Approach (Technology Used)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Algorithm &amp; Deployment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Conclusion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Future Scope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References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9052560" y="1645920"/>
            <a:ext cx="201168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9052560" y="1645920"/>
            <a:ext cx="73152" cy="338328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9217152" y="180136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217152" y="18105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⚑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710928" y="1828800"/>
            <a:ext cx="117043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82078" y="2322760"/>
            <a:ext cx="16275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Detect unusual transaction behavior and surface records that merit review.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52550" y="5486400"/>
            <a:ext cx="210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Desai-Vishwa/fraud-detection-anomaly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400"/>
          </a:p>
        </p:txBody>
      </p:sp>
      <p:sp>
        <p:nvSpPr>
          <p:cNvPr id="117" name="Google Shape;117;p15"/>
          <p:cNvSpPr txBox="1"/>
          <p:nvPr/>
        </p:nvSpPr>
        <p:spPr>
          <a:xfrm>
            <a:off x="685800" y="1325880"/>
            <a:ext cx="10241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Fraudulent transactions can resemble legitimate activity, making it difficult to identify suspicious behavior using manual review alone.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31520" y="2788920"/>
            <a:ext cx="324612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31520" y="2788920"/>
            <a:ext cx="73152" cy="224028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96112" y="294436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96112" y="29535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389888" y="291693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Volume &amp; Scale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13" y="3447297"/>
            <a:ext cx="286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Large transaction streams create too many records for exhaustive manual inspection.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160520" y="2788920"/>
            <a:ext cx="324612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160520" y="2788920"/>
            <a:ext cx="73152" cy="2240280"/>
          </a:xfrm>
          <a:prstGeom prst="rect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325112" y="2944368"/>
            <a:ext cx="384048" cy="384048"/>
          </a:xfrm>
          <a:prstGeom prst="ellipse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4325112" y="29535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818888" y="291693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Rare &amp; Irregular Events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361688" y="3447297"/>
            <a:ext cx="286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Fraud is typically characterized by unusual patterns rather than a simple, repeated rule.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7589520" y="2788920"/>
            <a:ext cx="324612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589520" y="2788920"/>
            <a:ext cx="73152" cy="2240280"/>
          </a:xfrm>
          <a:prstGeom prst="rect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754112" y="2944368"/>
            <a:ext cx="384048" cy="3840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754112" y="29535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247888" y="2916936"/>
            <a:ext cx="240487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False Alerts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845538" y="3447297"/>
            <a:ext cx="286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Over-flagging legitimate activity can waste analyst time and reduce trust in a detection system.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68680" y="544068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Goal: identify transactions that deviate from expected behavior and prioritize them for investigation.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4400"/>
          </a:p>
        </p:txBody>
      </p:sp>
      <p:sp>
        <p:nvSpPr>
          <p:cNvPr id="142" name="Google Shape;142;p16"/>
          <p:cNvSpPr txBox="1"/>
          <p:nvPr/>
        </p:nvSpPr>
        <p:spPr>
          <a:xfrm>
            <a:off x="731520" y="1298448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Build a repeatable anomaly-detection workflow that turns raw transaction data into actionable fraud flags.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731520" y="2240280"/>
            <a:ext cx="2286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31520" y="2240280"/>
            <a:ext cx="73152" cy="251460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96112" y="239572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896112" y="24048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389888" y="2368296"/>
            <a:ext cx="1444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1. Data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32688" y="2770632"/>
            <a:ext cx="1901952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Load transaction records and preserve the fields needed for behavioral analysis.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3246120" y="2240280"/>
            <a:ext cx="2286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246120" y="2240280"/>
            <a:ext cx="73152" cy="2514600"/>
          </a:xfrm>
          <a:prstGeom prst="rect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410712" y="2395728"/>
            <a:ext cx="384048" cy="384048"/>
          </a:xfrm>
          <a:prstGeom prst="ellipse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3410712" y="24048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904487" y="2368296"/>
            <a:ext cx="1444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2. Prepare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447288" y="2770632"/>
            <a:ext cx="1901952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Clean, validate and transform data so the model can identify meaningful deviations.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60720" y="2240280"/>
            <a:ext cx="2286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60720" y="2240280"/>
            <a:ext cx="73152" cy="2514600"/>
          </a:xfrm>
          <a:prstGeom prst="rect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925312" y="2395728"/>
            <a:ext cx="384048" cy="384048"/>
          </a:xfrm>
          <a:prstGeom prst="ellipse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925312" y="24048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419088" y="2368296"/>
            <a:ext cx="1444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3. Detect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961888" y="2770632"/>
            <a:ext cx="1901952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Apply anomaly detection to distinguish normal behavior from unusual observations.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8275320" y="2240280"/>
            <a:ext cx="2286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8275320" y="2240280"/>
            <a:ext cx="73152" cy="2514600"/>
          </a:xfrm>
          <a:prstGeom prst="rect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439912" y="2395728"/>
            <a:ext cx="384048" cy="3840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8439912" y="24048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933688" y="2368296"/>
            <a:ext cx="144475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4. Review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476488" y="2770632"/>
            <a:ext cx="1901952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Surface high-priority records for investigation and follow-up.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2999232" y="3200400"/>
            <a:ext cx="201168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513832" y="3200400"/>
            <a:ext cx="201168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028431" y="3200400"/>
            <a:ext cx="201168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960120" y="507492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Expected output: an analyst-friendly set of anomaly flags / risk indicators that supports faster investigation.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>
            <p:ph type="title"/>
          </p:nvPr>
        </p:nvSpPr>
        <p:spPr>
          <a:xfrm>
            <a:off x="581192" y="662572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SYSTEM APPROACH</a:t>
            </a:r>
            <a:endParaRPr sz="4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94360" y="1828800"/>
            <a:ext cx="1417320" cy="749808"/>
          </a:xfrm>
          <a:prstGeom prst="roundRect">
            <a:avLst>
              <a:gd fmla="val 16667" name="adj"/>
            </a:avLst>
          </a:prstGeom>
          <a:solidFill>
            <a:srgbClr val="F1F7FA"/>
          </a:solidFill>
          <a:ln cap="flat" cmpd="sng" w="17775">
            <a:solidFill>
              <a:srgbClr val="25ACD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40080" y="1920240"/>
            <a:ext cx="132588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Transaction Data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2057400" y="20574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331720" y="1828800"/>
            <a:ext cx="1417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5ACD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2377439" y="1920240"/>
            <a:ext cx="132588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3794759" y="20574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160520" y="1828800"/>
            <a:ext cx="1508760" cy="749808"/>
          </a:xfrm>
          <a:prstGeom prst="roundRect">
            <a:avLst>
              <a:gd fmla="val 16667" name="adj"/>
            </a:avLst>
          </a:prstGeom>
          <a:solidFill>
            <a:srgbClr val="F1F7FA"/>
          </a:solidFill>
          <a:ln cap="flat" cmpd="sng" w="17775">
            <a:solidFill>
              <a:srgbClr val="25ACD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4206240" y="1920240"/>
            <a:ext cx="1417319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Feature Preparation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4999" y="20574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989320" y="1828800"/>
            <a:ext cx="14173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5ACD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035040" y="1920240"/>
            <a:ext cx="132588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Anomaly Detection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7452360" y="20574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818120" y="1828800"/>
            <a:ext cx="1325880" cy="749808"/>
          </a:xfrm>
          <a:prstGeom prst="roundRect">
            <a:avLst>
              <a:gd fmla="val 16667" name="adj"/>
            </a:avLst>
          </a:prstGeom>
          <a:solidFill>
            <a:srgbClr val="F1F7FA"/>
          </a:solidFill>
          <a:ln cap="flat" cmpd="sng" w="17775">
            <a:solidFill>
              <a:srgbClr val="D691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7863840" y="1920240"/>
            <a:ext cx="1234439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Flagged Records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9189720" y="20574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9418320" y="1828800"/>
            <a:ext cx="123444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691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9464040" y="1920240"/>
            <a:ext cx="114300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Investigation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777240" y="3154680"/>
            <a:ext cx="324612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777240" y="3154680"/>
            <a:ext cx="73152" cy="196596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941832" y="331012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941832" y="33192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435607" y="328269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Development Requirements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978408" y="3685032"/>
            <a:ext cx="286207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Python environment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Structured transaction dataset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Jupyter / script-based analysis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Version-controlled project files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4206240" y="3154680"/>
            <a:ext cx="324612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4206240" y="3154680"/>
            <a:ext cx="73152" cy="1965960"/>
          </a:xfrm>
          <a:prstGeom prst="rect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4370831" y="3310128"/>
            <a:ext cx="384048" cy="384048"/>
          </a:xfrm>
          <a:prstGeom prst="ellipse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4370831" y="33192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4864607" y="328269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Analytical Steps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4407407" y="3685032"/>
            <a:ext cx="286207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Data inspection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Cleaning &amp; transformation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Pattern / outlier analysis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Model scoring &amp; review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7635240" y="3154680"/>
            <a:ext cx="324612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7635240" y="3154680"/>
            <a:ext cx="73152" cy="1965960"/>
          </a:xfrm>
          <a:prstGeom prst="rect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7799831" y="3310128"/>
            <a:ext cx="384048" cy="384048"/>
          </a:xfrm>
          <a:prstGeom prst="ellipse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7799831" y="33192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293608" y="3282696"/>
            <a:ext cx="240487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Operational Output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836408" y="3685032"/>
            <a:ext cx="286207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Anomaly score / flag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Suspicious-record shortlist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Investigation support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Repeatable workflow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822960" y="544068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7F89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85800" y="1463040"/>
            <a:ext cx="4754880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85800" y="1463040"/>
            <a:ext cx="73152" cy="416052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850392" y="161848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850392" y="162763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344168" y="1591056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Algorithm Logic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86968" y="1993392"/>
            <a:ext cx="4370832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1. Learn the pattern of normal observations.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2. Measure how strongly each record deviates from that pattern.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3. Convert the deviation into an anomaly flag / score.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4. Send the highest-priority cases to review.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5715000" y="1463040"/>
            <a:ext cx="475488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5715000" y="1463040"/>
            <a:ext cx="73152" cy="1874519"/>
          </a:xfrm>
          <a:prstGeom prst="rect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5879592" y="1618488"/>
            <a:ext cx="384048" cy="384048"/>
          </a:xfrm>
          <a:prstGeom prst="ellipse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5879592" y="162763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6373368" y="1591056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Deployment Concept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5916168" y="1993392"/>
            <a:ext cx="4370832" cy="1216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analytical pipeline can be exposed through a lightweight Python interface or dashboard for repeatable scoring and review.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5715000" y="3566160"/>
            <a:ext cx="47548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715000" y="3566160"/>
            <a:ext cx="73152" cy="2057400"/>
          </a:xfrm>
          <a:prstGeom prst="rect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5879592" y="3721608"/>
            <a:ext cx="384048" cy="384048"/>
          </a:xfrm>
          <a:prstGeom prst="ellipse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5879592" y="373075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6373368" y="3694176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5916168" y="4096511"/>
            <a:ext cx="4370832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Recommended measures: Precision, Recall, F1-score, confusion matrix, and threshold analysis. Use the project run to populate the exact values.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85800" y="12801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Project Outcome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731520" y="2057400"/>
            <a:ext cx="59436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rnd" cmpd="sng" w="12700">
            <a:solidFill>
              <a:srgbClr val="DCE3E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1554480" y="292608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011680" y="320040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2377440" y="274320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743200" y="333756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017520" y="288036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3474720" y="315468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749039" y="274320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4114800" y="324612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4572000" y="292608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4937760" y="338328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394960" y="306324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5760720" y="2743200"/>
            <a:ext cx="118872" cy="118872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035040" y="2331720"/>
            <a:ext cx="155448" cy="1554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5486400" y="4251960"/>
            <a:ext cx="155448" cy="1554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325880" y="4297680"/>
            <a:ext cx="155448" cy="1554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960120" y="47091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Normal transaction pattern</a:t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6949440" y="2057400"/>
            <a:ext cx="3657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6949440" y="2057400"/>
            <a:ext cx="73152" cy="114300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4031" y="221284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7114031" y="222199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607808" y="2185416"/>
            <a:ext cx="281635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7150607" y="2587752"/>
            <a:ext cx="327355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Surface records that deviate from the learned / expected pattern.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6949440" y="3383280"/>
            <a:ext cx="3657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6949440" y="3383280"/>
            <a:ext cx="73152" cy="1143000"/>
          </a:xfrm>
          <a:prstGeom prst="rect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7114031" y="3538728"/>
            <a:ext cx="384048" cy="384048"/>
          </a:xfrm>
          <a:prstGeom prst="ellipse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7114031" y="35478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7607808" y="3511296"/>
            <a:ext cx="281635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Prioritize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7150607" y="3913632"/>
            <a:ext cx="327355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Convert anomaly output into a review queue or risk indicator.</a:t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6949440" y="4709160"/>
            <a:ext cx="3657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6949440" y="4709160"/>
            <a:ext cx="73152" cy="1143000"/>
          </a:xfrm>
          <a:prstGeom prst="rect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7114031" y="4864608"/>
            <a:ext cx="384048" cy="3840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7114031" y="487375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7607808" y="4837176"/>
            <a:ext cx="281635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7150607" y="5239512"/>
            <a:ext cx="327355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Use human investigation to confirm or reject suspected fraud.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/>
        </p:nvSpPr>
        <p:spPr>
          <a:xfrm>
            <a:off x="518153" y="635865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</a:rPr>
              <a:t>RESULT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518153" y="1275945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67E"/>
                </a:solidFill>
                <a:latin typeface="Arial"/>
                <a:ea typeface="Arial"/>
                <a:cs typeface="Arial"/>
                <a:sym typeface="Arial"/>
              </a:rPr>
              <a:t>Isolation Forest trained without labels flagged 1,471 records as anomalies.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18153" y="1870305"/>
            <a:ext cx="5669400" cy="448050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32" y="2007465"/>
            <a:ext cx="5303400" cy="42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/>
          <p:nvPr/>
        </p:nvSpPr>
        <p:spPr>
          <a:xfrm>
            <a:off x="6461752" y="1870305"/>
            <a:ext cx="5120700" cy="1371600"/>
          </a:xfrm>
          <a:prstGeom prst="roundRect">
            <a:avLst>
              <a:gd fmla="val 8000" name="adj"/>
            </a:avLst>
          </a:prstGeom>
          <a:solidFill>
            <a:srgbClr val="F1F7FA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6736073" y="2007465"/>
            <a:ext cx="237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37,721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9113513" y="2007465"/>
            <a:ext cx="2286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Transactions monitored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461752" y="3424785"/>
            <a:ext cx="5120700" cy="1371600"/>
          </a:xfrm>
          <a:prstGeom prst="roundRect">
            <a:avLst>
              <a:gd fmla="val 8000" name="adj"/>
            </a:avLst>
          </a:prstGeom>
          <a:solidFill>
            <a:srgbClr val="F1F7FA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736073" y="3561945"/>
            <a:ext cx="237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128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69128"/>
                </a:solidFill>
                <a:latin typeface="Arial"/>
                <a:ea typeface="Arial"/>
                <a:cs typeface="Arial"/>
                <a:sym typeface="Arial"/>
              </a:rPr>
              <a:t>1,471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9113513" y="3561945"/>
            <a:ext cx="2286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Flagged for investigation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6461752" y="4979265"/>
            <a:ext cx="5120700" cy="1371600"/>
          </a:xfrm>
          <a:prstGeom prst="roundRect">
            <a:avLst>
              <a:gd fmla="val 8000" name="adj"/>
            </a:avLst>
          </a:prstGeom>
          <a:solidFill>
            <a:srgbClr val="F1F7FA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6736073" y="5116425"/>
            <a:ext cx="237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3.90%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9113513" y="5116425"/>
            <a:ext cx="2286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Share of records flagged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/>
          <p:nvPr/>
        </p:nvSpPr>
        <p:spPr>
          <a:xfrm>
            <a:off x="548650" y="823069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</a:rPr>
              <a:t>RESULT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3400"/>
              <a:buFont typeface="Arial"/>
              <a:buNone/>
            </a:pPr>
            <a:r>
              <a:t/>
            </a:r>
            <a:endParaRPr b="1" sz="3000">
              <a:solidFill>
                <a:srgbClr val="3F4950"/>
              </a:solidFill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48640" y="868695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67E"/>
                </a:solidFill>
                <a:latin typeface="Arial"/>
                <a:ea typeface="Arial"/>
                <a:cs typeface="Arial"/>
                <a:sym typeface="Arial"/>
              </a:rPr>
              <a:t>First five flagged records from the notebook, ready for analyst review.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9" name="Google Shape;299;p21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{1C6C5044-A8D3-48BC-94D7-9ED05DA03D18}</a:tableStyleId>
              </a:tblPr>
              <a:tblGrid>
                <a:gridCol w="731525"/>
                <a:gridCol w="822950"/>
                <a:gridCol w="914400"/>
                <a:gridCol w="914400"/>
                <a:gridCol w="914400"/>
                <a:gridCol w="1097275"/>
                <a:gridCol w="777250"/>
                <a:gridCol w="777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Row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Flag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495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-1.005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-0.986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3.710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1,402.95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73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7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-3.005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2.600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-2.418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73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7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-1.199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-1.474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-4.516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89.17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73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7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-4.575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-4.429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200.01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73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7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-1.865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-1.748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495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F49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373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437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F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7FA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21"/>
          <p:cNvSpPr txBox="1"/>
          <p:nvPr/>
        </p:nvSpPr>
        <p:spPr>
          <a:xfrm>
            <a:off x="548640" y="4846320"/>
            <a:ext cx="694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7E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B767E"/>
                </a:solidFill>
                <a:latin typeface="Arial"/>
                <a:ea typeface="Arial"/>
                <a:cs typeface="Arial"/>
                <a:sym typeface="Arial"/>
              </a:rPr>
              <a:t>Class = dataset label (0 normal, 1 fraud), kept aside during training. Flag -1 = anomaly.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7772400" y="1554480"/>
            <a:ext cx="3840600" cy="1280100"/>
          </a:xfrm>
          <a:prstGeom prst="roundRect">
            <a:avLst>
              <a:gd fmla="val 8571" name="adj"/>
            </a:avLst>
          </a:prstGeom>
          <a:solidFill>
            <a:srgbClr val="F1F7FA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8001000" y="1920240"/>
            <a:ext cx="457200" cy="457200"/>
          </a:xfrm>
          <a:prstGeom prst="ellipse">
            <a:avLst/>
          </a:prstGeom>
          <a:solidFill>
            <a:srgbClr val="25A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800100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8641080" y="169164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641080" y="2103120"/>
            <a:ext cx="283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Surface records that deviate from the learned pattern.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7772400" y="3017520"/>
            <a:ext cx="3840600" cy="1280100"/>
          </a:xfrm>
          <a:prstGeom prst="roundRect">
            <a:avLst>
              <a:gd fmla="val 8571" name="adj"/>
            </a:avLst>
          </a:prstGeom>
          <a:solidFill>
            <a:srgbClr val="F1F7FA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8001000" y="3383280"/>
            <a:ext cx="457200" cy="457200"/>
          </a:xfrm>
          <a:prstGeom prst="ellipse">
            <a:avLst/>
          </a:prstGeom>
          <a:solidFill>
            <a:srgbClr val="D691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8001000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8641080" y="315468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Prioritize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8641080" y="3566160"/>
            <a:ext cx="283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Turn anomaly output into a review queue or risk indicator.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7772400" y="4480560"/>
            <a:ext cx="3840600" cy="1280100"/>
          </a:xfrm>
          <a:prstGeom prst="roundRect">
            <a:avLst>
              <a:gd fmla="val 8571" name="adj"/>
            </a:avLst>
          </a:prstGeom>
          <a:solidFill>
            <a:srgbClr val="F1F7FA"/>
          </a:solidFill>
          <a:ln cap="flat" cmpd="sng" w="9525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8001000" y="4846320"/>
            <a:ext cx="457200" cy="457200"/>
          </a:xfrm>
          <a:prstGeom prst="ellipse">
            <a:avLst/>
          </a:prstGeom>
          <a:solidFill>
            <a:srgbClr val="C437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8001000" y="4846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8641080" y="461772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8641080" y="5029200"/>
            <a:ext cx="283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49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Human investigation confirms or rejects suspected fraud.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777240" y="141732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The project demonstrates an end-to-end way to move from transaction data to anomaly-focused fraud investigation.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960120" y="2606040"/>
            <a:ext cx="95097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Reduces dependence on purely manual transaction screening.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Creates a repeatable analytical workflow for unusual-behavior detection.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Supports analyst review by highlighting records that deserve attention.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Provides a foundation for stronger evaluatio</a:t>
            </a: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, monitoring and deployment.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1005840" y="516636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Key takeaway: anomaly detection is a practical first layer for fraud screening, with human validation remaining important.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 txBox="1"/>
          <p:nvPr/>
        </p:nvSpPr>
        <p:spPr>
          <a:xfrm>
            <a:off x="535670" y="844659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685800" y="1417320"/>
            <a:ext cx="32461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850392" y="157276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850392" y="15819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1344168" y="154533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1. Better Features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886968" y="1947672"/>
            <a:ext cx="286207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Add temporal, behavioural and contextual features to improve anomaly separation.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4160520" y="1417320"/>
            <a:ext cx="32461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4160520" y="1417320"/>
            <a:ext cx="73152" cy="1920240"/>
          </a:xfrm>
          <a:prstGeom prst="rect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325112" y="1572768"/>
            <a:ext cx="384048" cy="384048"/>
          </a:xfrm>
          <a:prstGeom prst="ellipse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4325112" y="15819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4818888" y="154533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2. Model Comparison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4361688" y="1947672"/>
            <a:ext cx="286207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Compare multiple anomaly-detection methods and select thresholds against business costs.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7635240" y="1417320"/>
            <a:ext cx="32461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7635240" y="1417320"/>
            <a:ext cx="73152" cy="1920240"/>
          </a:xfrm>
          <a:prstGeom prst="rect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7799831" y="1572768"/>
            <a:ext cx="384048" cy="384048"/>
          </a:xfrm>
          <a:prstGeom prst="ellipse">
            <a:avLst/>
          </a:prstGeom>
          <a:solidFill>
            <a:srgbClr val="D69128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7799831" y="158191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8293608" y="1545336"/>
            <a:ext cx="240487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3. Explainability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7836408" y="1947672"/>
            <a:ext cx="286207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Show why a record was flagged so investigators can validate the signal faster.</a:t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685800" y="3611880"/>
            <a:ext cx="32461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685800" y="3611880"/>
            <a:ext cx="73152" cy="1920240"/>
          </a:xfrm>
          <a:prstGeom prst="rect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850392" y="3767328"/>
            <a:ext cx="384048" cy="384048"/>
          </a:xfrm>
          <a:prstGeom prst="ellipse">
            <a:avLst/>
          </a:prstGeom>
          <a:solidFill>
            <a:srgbClr val="C43737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850392" y="37764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1344168" y="373989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4. Real-time Scoring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886968" y="4142232"/>
            <a:ext cx="286207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Move from batch analysis to streaming or near-real-time transaction screening.</a:t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4160520" y="3611880"/>
            <a:ext cx="32461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4160520" y="3611880"/>
            <a:ext cx="73152" cy="1920240"/>
          </a:xfrm>
          <a:prstGeom prst="rect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4325112" y="3767328"/>
            <a:ext cx="384048" cy="384048"/>
          </a:xfrm>
          <a:prstGeom prst="ellipse">
            <a:avLst/>
          </a:prstGeom>
          <a:solidFill>
            <a:srgbClr val="25ACDF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4325112" y="37764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4818888" y="3739896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5. Monitoring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4361688" y="4142232"/>
            <a:ext cx="286207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Track drift, alert quality and threshold performance after deployment.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7635240" y="3611880"/>
            <a:ext cx="324612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7635240" y="3611880"/>
            <a:ext cx="73152" cy="1920240"/>
          </a:xfrm>
          <a:prstGeom prst="rect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7799831" y="3767328"/>
            <a:ext cx="384048" cy="384048"/>
          </a:xfrm>
          <a:prstGeom prst="ellipse">
            <a:avLst/>
          </a:prstGeom>
          <a:solidFill>
            <a:srgbClr val="7F8991"/>
          </a:solidFill>
          <a:ln>
            <a:noFill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7799831" y="3776472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8293608" y="3739896"/>
            <a:ext cx="240487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6. Human-in-the-loop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7836408" y="4142232"/>
            <a:ext cx="286207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Feed analyst decisions back into the workflow for continuous improvement.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ct val="1000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868680" y="1508760"/>
            <a:ext cx="97842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1. Project Repository — GitHub: Desai-Vishwa/fraud-detection-anomaly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2. Python Documentation — Python language and standard tooling reference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3. Scikit-learn User Guide — Machine Learning / Anomaly Detection reference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■  4. SkillsBuild Partner Update — Capstone Project template provided for submission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960120" y="50749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Repository URL: https://github.com/Desai-Vishwa/fraud-detection-anomaly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ACD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DEPLOYMENT LINK / GITHUB LINK</a:t>
            </a:r>
            <a:endParaRPr/>
          </a:p>
        </p:txBody>
      </p:sp>
      <p:sp>
        <p:nvSpPr>
          <p:cNvPr id="377" name="Google Shape;377;p25"/>
          <p:cNvSpPr txBox="1"/>
          <p:nvPr>
            <p:ph idx="1" type="body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6121" lvl="0" marL="30543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64"/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777250" y="1508750"/>
            <a:ext cx="10535400" cy="350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rnd" cmpd="sng" w="12700">
            <a:solidFill>
              <a:srgbClr val="D7DFE4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5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2606043" y="1768030"/>
            <a:ext cx="6583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GitHub Repository</a:t>
            </a:r>
            <a:endParaRPr/>
          </a:p>
        </p:txBody>
      </p:sp>
      <p:sp>
        <p:nvSpPr>
          <p:cNvPr id="380" name="Google Shape;380;p25">
            <a:hlinkClick r:id="rId3"/>
          </p:cNvPr>
          <p:cNvSpPr txBox="1"/>
          <p:nvPr/>
        </p:nvSpPr>
        <p:spPr>
          <a:xfrm>
            <a:off x="2758448" y="2488538"/>
            <a:ext cx="667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https://github.com/Desai-Vishwa/fraud-detection-anomaly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914400" y="53035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7F899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/>
          <p:nvPr>
            <p:ph type="title"/>
          </p:nvPr>
        </p:nvSpPr>
        <p:spPr>
          <a:xfrm>
            <a:off x="1463041" y="2766218"/>
            <a:ext cx="929874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2363375" y="2882170"/>
            <a:ext cx="749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ACDF"/>
                </a:solidFill>
                <a:latin typeface="Arial"/>
                <a:ea typeface="Arial"/>
                <a:cs typeface="Arial"/>
                <a:sym typeface="Arial"/>
              </a:rPr>
              <a:t>Fraud Detection &amp; Anomaly Analysis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2363313" y="5582650"/>
            <a:ext cx="749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F4950"/>
                </a:solidFill>
                <a:latin typeface="Arial"/>
                <a:ea typeface="Arial"/>
                <a:cs typeface="Arial"/>
                <a:sym typeface="Arial"/>
              </a:rPr>
              <a:t>Vishwa Desai  |  Capstone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